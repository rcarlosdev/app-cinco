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1792" y="694944"/>
            <a:ext cx="1645920" cy="292608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75895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Presentacion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16736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IA Corporativa Para Gestion,</a:t>
            </a:r>
            <a:br/>
            <a:r>
              <a:t>Control 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7FA"/>
                </a:solidFill>
                <a:latin typeface="Aptos"/>
              </a:rPr>
              <a:t>Vision para escalar inteligencia empresarial por areas: gestion humana, SST, logistica, transporte, operaciones, control y gerencia.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F7FA"/>
                </a:solidFill>
                <a:latin typeface="Aptos"/>
              </a:rPr>
              <a:t>Proyecto: app-cinco | Base actual validada en empleados y ausentismo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El problema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La informacion existe, pero no siempre se convierte en accion</a:t>
            </a:r>
          </a:p>
        </p:txBody>
      </p:sp>
      <p:pic>
        <p:nvPicPr>
          <p:cNvPr id="4" name="Picture 3" descr="silos_vs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16152"/>
            <a:ext cx="5212080" cy="3040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48132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B202B"/>
                </a:solidFill>
                <a:latin typeface="Aptos"/>
              </a:rPr>
              <a:t>• La informacion suele estar repartida entre tablas, reportes, areas y personas.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Muchos cruces siguen dependiendo de Excel, consultas manuales y conocimiento individual.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La respuesta gerencial llega tarde cuando una novedad ya se volvio costo, retraso o riesgo.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Los jefes de area necesitan ver su operacion completa, no datos aislados.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5276088"/>
            <a:ext cx="14630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5276088"/>
            <a:ext cx="164592" cy="841248"/>
          </a:xfrm>
          <a:prstGeom prst="roundRect">
            <a:avLst/>
          </a:prstGeom>
          <a:solidFill>
            <a:srgbClr val="E6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440679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Tiempo invertido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696712"/>
            <a:ext cx="1051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Alto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5276088"/>
            <a:ext cx="16916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5276088"/>
            <a:ext cx="164592" cy="841248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5440679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Visibilidad cruzada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5696712"/>
            <a:ext cx="1280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Limitada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5276088"/>
            <a:ext cx="17373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24528" y="5276088"/>
            <a:ext cx="164592" cy="841248"/>
          </a:xfrm>
          <a:prstGeom prst="roundRect">
            <a:avLst/>
          </a:prstGeom>
          <a:solidFill>
            <a:srgbClr val="1C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5440679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Velocidad de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5696712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Material ejecutivo de referencia. Graficos ilustrativos salvo donde se indique lo contrario.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Un copiloto corporativo que entienda el lenguaje real de la empresa</a:t>
            </a:r>
          </a:p>
        </p:txBody>
      </p:sp>
      <p:pic>
        <p:nvPicPr>
          <p:cNvPr id="4" name="Picture 3" descr="cap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303520" cy="3093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" y="1426464"/>
            <a:ext cx="48463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B202B"/>
                </a:solidFill>
                <a:latin typeface="Aptos"/>
              </a:rPr>
              <a:t>• Permite consultar informacion empresarial en lenguaje natural y con criterio de negocio.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Conecta personas, procesos, novedades, recursos, activos e indicadores.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No reemplaza los sistemas actuales: los hace mas utilizables para decidir, controlar y actuar.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Puede crecer por dominios, empezando por lo que mas duele y mas impacto genera.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303520"/>
            <a:ext cx="5029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13A"/>
                </a:solidFill>
                <a:latin typeface="Aptos"/>
              </a:rPr>
              <a:t>Resultado esperado: menos tiempo buscando datos y mas tiempo gestionando la operacion.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Material ejecutivo de referencia. Graficos ilustrativos salvo donde se indique lo contrario.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Lo que ya esta demostrado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Base real ya montada para crecer por procesos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52044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82496"/>
            <a:ext cx="1463040" cy="292608"/>
          </a:xfrm>
          <a:prstGeom prst="roundRect">
            <a:avLst/>
          </a:prstGeom>
          <a:solidFill>
            <a:srgbClr val="19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72821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Activo y creciendo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66543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13A"/>
                </a:solidFill>
                <a:latin typeface="Aptos"/>
              </a:rPr>
              <a:t>Empleados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14016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Ya interpreta personal, supervisor, area, cargo, movil y tipo de labor.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481328"/>
            <a:ext cx="352044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90872" y="1682496"/>
            <a:ext cx="1463040" cy="292608"/>
          </a:xfrm>
          <a:prstGeom prst="roundRect">
            <a:avLst/>
          </a:prstGeom>
          <a:solidFill>
            <a:srgbClr val="4CB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2821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Activo y maduro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66543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13A"/>
                </a:solidFill>
                <a:latin typeface="Aptos"/>
              </a:rPr>
              <a:t>Ausentismo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414016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Ya analiza vacaciones, incapacidades, licencias, permisos y concentraciones por estructura.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481328"/>
            <a:ext cx="352044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85632" y="1682496"/>
            <a:ext cx="1463040" cy="292608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72821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Parcial y expandible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066543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13A"/>
                </a:solidFill>
                <a:latin typeface="Aptos"/>
              </a:rPr>
              <a:t>Transporte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414016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Ya sirve como frente independiente de salidas y flota. Puede crecer a rutas, personal y consumo.</a:t>
            </a:r>
          </a:p>
        </p:txBody>
      </p:sp>
      <p:pic>
        <p:nvPicPr>
          <p:cNvPr id="19" name="Picture 18" descr="domain_matur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93008"/>
            <a:ext cx="5623560" cy="289975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9400" y="3639312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13A"/>
                </a:solidFill>
                <a:latin typeface="Aptos"/>
              </a:rPr>
              <a:t>Lo que esto significa para la gerencia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986784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B202B"/>
                </a:solidFill>
                <a:latin typeface="Aptos"/>
              </a:rPr>
              <a:t>• Ya existe un punto de partida validado en gestion humana y ausentismo.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El sistema ya entiende lenguaje interno como supervisor, area, carpeta, movil, vacaciones e incapacidad.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La expansion a nuevos frentes no parte de cero; parte de una logica empresarial ya construida.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Madurez tomada del contexto actual del proyecto. Transporte aparece como dominio parcial; logistica de materiales se plantea como siguiente frente prioritario.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Valor para Gestion Humana, RRHH y SST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De consultar datos a gestionar personas con evidencia</a:t>
            </a:r>
          </a:p>
        </p:txBody>
      </p:sp>
      <p:pic>
        <p:nvPicPr>
          <p:cNvPr id="4" name="Picture 3" descr="absence_are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298448"/>
            <a:ext cx="5074920" cy="27377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444752"/>
            <a:ext cx="50749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202B"/>
                </a:solidFill>
                <a:latin typeface="Aptos"/>
              </a:rPr>
              <a:t>• Consultar personal activo, distribucion por area, cargo, supervisor o frente operativo.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B202B"/>
                </a:solidFill>
                <a:latin typeface="Aptos"/>
              </a:rPr>
              <a:t>• Detectar concentraciones de ausentismo y reincidencia antes de que afecten servicio y productividad.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B202B"/>
                </a:solidFill>
                <a:latin typeface="Aptos"/>
              </a:rPr>
              <a:t>• Ver vacaciones, incapacidades, permisos y licencias por fecha, lider o equipo.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B202B"/>
                </a:solidFill>
                <a:latin typeface="Aptos"/>
              </a:rPr>
              <a:t>• Priorizar acciones de SST con evidencia: focos de riesgo, recurrencia y poblacion critica.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68112"/>
            <a:ext cx="146304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5468112"/>
            <a:ext cx="164592" cy="786384"/>
          </a:xfrm>
          <a:prstGeom prst="roundRect">
            <a:avLst/>
          </a:prstGeom>
          <a:solidFill>
            <a:srgbClr val="19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63270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Visibilidad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888736"/>
            <a:ext cx="1051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360°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5468112"/>
            <a:ext cx="173736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5468112"/>
            <a:ext cx="164592" cy="786384"/>
          </a:xfrm>
          <a:prstGeom prst="roundRect">
            <a:avLst/>
          </a:prstGeom>
          <a:solidFill>
            <a:srgbClr val="4CB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563270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Respuesta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5888736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Mas rapida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5468112"/>
            <a:ext cx="1874519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24528" y="5468112"/>
            <a:ext cx="164592" cy="786384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5632704"/>
            <a:ext cx="1463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Prevencion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5888736"/>
            <a:ext cx="14630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Mas temprana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Grafico referencial para ilustrar el tipo de lectura ejecutiva que podria tener un jefe de 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Valor para Logistica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Materiales, herramientas, equipos y dotaciones bajo una sola lectura</a:t>
            </a:r>
          </a:p>
        </p:txBody>
      </p:sp>
      <p:pic>
        <p:nvPicPr>
          <p:cNvPr id="4" name="Picture 3" descr="logistic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426464"/>
            <a:ext cx="5669280" cy="2456688"/>
          </a:xfrm>
          <a:prstGeom prst="rect">
            <a:avLst/>
          </a:prstGeom>
        </p:spPr>
      </p:pic>
      <p:pic>
        <p:nvPicPr>
          <p:cNvPr id="5" name="Picture 4" descr="inventor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72768"/>
            <a:ext cx="4572000" cy="2466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75488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B202B"/>
                </a:solidFill>
                <a:latin typeface="Aptos"/>
              </a:rPr>
              <a:t>• Permite controlar entrega, consumo, saldo, devoluciones, responsables, bodega, proyecto y cuadrilla.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Ayuda a detectar faltantes, sobreconsumos, activos no retornados y diferencias entre inventario y realidad operativa.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Impacta directamente costo, control interno, disponibilidad de recursos y productividad del frente de trabajo.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Logistica de materiales se presenta como siguiente dominio estrategico de expansion, separado de transporte.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Valor para Transporte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Control de flota, asignaciones, salidas, rutas y consumo</a:t>
            </a:r>
          </a:p>
        </p:txBody>
      </p:sp>
      <p:pic>
        <p:nvPicPr>
          <p:cNvPr id="4" name="Picture 3" descr="transpor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63040"/>
            <a:ext cx="5715000" cy="2476500"/>
          </a:xfrm>
          <a:prstGeom prst="rect">
            <a:avLst/>
          </a:prstGeom>
        </p:spPr>
      </p:pic>
      <p:pic>
        <p:nvPicPr>
          <p:cNvPr id="5" name="Picture 4" descr="transpor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27632"/>
            <a:ext cx="4754880" cy="25650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" y="4736592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B202B"/>
                </a:solidFill>
                <a:latin typeface="Aptos"/>
              </a:rPr>
              <a:t>• Hace visible que vehiculo salio, con que personal, para que ruta, con que horario y con que consumo.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Ayuda a medir uso de flota, tiempos muertos, desviaciones, costo por ruta y disciplina operativa.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B202B"/>
                </a:solidFill>
                <a:latin typeface="Aptos"/>
              </a:rPr>
              <a:t>• Conecta el control administrativo con la realidad del movimiento diario en campo.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Transporte ya existe como frente independiente en el proyecto y puede evolucionar a una operacion de flota mucho mas completa.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Valor para Operaciones y Productividad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La mayor ganancia aparece cuando las areas se conectan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4173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C213A"/>
                </a:solidFill>
                <a:latin typeface="Aptos"/>
              </a:rPr>
              <a:t>Escenario operativo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5212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B202B"/>
                </a:solidFill>
                <a:latin typeface="Aptos"/>
              </a:rPr>
              <a:t>• Una cuadrilla puede quedar impactada por ausentismo, falta de material o indisponibilidad de vehiculo.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El jefe de operaciones necesita entender esas causas juntas, no por separado.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B202B"/>
                </a:solidFill>
                <a:latin typeface="Aptos"/>
              </a:rPr>
              <a:t>• El sistema puede priorizar frentes en riesgo, cuellos de botella y acciones correctivas inmediatas.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16459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9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92938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C213A"/>
                </a:solidFill>
                <a:latin typeface="Aptos"/>
              </a:rPr>
              <a:t>Personal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91640"/>
            <a:ext cx="16459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92938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C213A"/>
                </a:solidFill>
                <a:latin typeface="Aptos"/>
              </a:rPr>
              <a:t>Materiales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16459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6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30098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C213A"/>
                </a:solidFill>
                <a:latin typeface="Aptos"/>
              </a:rPr>
              <a:t>Transporte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063240"/>
            <a:ext cx="16459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330098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C213A"/>
                </a:solidFill>
                <a:latin typeface="Aptos"/>
              </a:rPr>
              <a:t>Operacion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2103120"/>
            <a:ext cx="365760" cy="0"/>
          </a:xfrm>
          <a:prstGeom prst="line">
            <a:avLst/>
          </a:prstGeom>
          <a:ln w="31750">
            <a:solidFill>
              <a:srgbClr val="5A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2514600"/>
            <a:ext cx="0" cy="548640"/>
          </a:xfrm>
          <a:prstGeom prst="line">
            <a:avLst/>
          </a:prstGeom>
          <a:ln w="31750">
            <a:solidFill>
              <a:srgbClr val="5A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35440" y="2514600"/>
            <a:ext cx="0" cy="548640"/>
          </a:xfrm>
          <a:prstGeom prst="line">
            <a:avLst/>
          </a:prstGeom>
          <a:ln w="31750">
            <a:solidFill>
              <a:srgbClr val="5A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46720" y="3474720"/>
            <a:ext cx="365760" cy="0"/>
          </a:xfrm>
          <a:prstGeom prst="line">
            <a:avLst/>
          </a:prstGeom>
          <a:ln w="31750">
            <a:solidFill>
              <a:srgbClr val="5A67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79792" y="2487168"/>
            <a:ext cx="1417320" cy="1005840"/>
          </a:xfrm>
          <a:prstGeom prst="ellipse">
            <a:avLst/>
          </a:prstGeom>
          <a:solidFill>
            <a:srgbClr val="0C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2770632"/>
            <a:ext cx="10789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202B"/>
                </a:solidFill>
                <a:latin typeface="Aptos"/>
              </a:rPr>
              <a:t>Mensaje clave: la productividad sube cuando la empresa puede leer juntas las causas humanas, logisticas y operativas.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Material ejecutivo de referencia. Graficos ilustrativos salvo donde se indique lo contrario.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C213A"/>
                </a:solidFill>
                <a:latin typeface="Aptos"/>
              </a:rPr>
              <a:t>Valor para Gerencia, Finanzas, Juridica e Indicadores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8"/>
                </a:solidFill>
                <a:latin typeface="Aptos"/>
              </a:rPr>
              <a:t>Una sola capa de lectura ejecutiva sobre varios procesos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572768"/>
            <a:ext cx="22402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572768"/>
            <a:ext cx="164592" cy="960120"/>
          </a:xfrm>
          <a:prstGeom prst="roundRect">
            <a:avLst/>
          </a:prstGeom>
          <a:solidFill>
            <a:srgbClr val="E6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737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Costos y desviaciones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199339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Visibles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572768"/>
            <a:ext cx="22402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82112" y="1572768"/>
            <a:ext cx="164592" cy="960120"/>
          </a:xfrm>
          <a:prstGeom prst="roundRect">
            <a:avLst/>
          </a:prstGeom>
          <a:solidFill>
            <a:srgbClr val="1C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Cumplimiento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9339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Trazable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96128" y="1572768"/>
            <a:ext cx="22402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96128" y="1572768"/>
            <a:ext cx="164592" cy="960120"/>
          </a:xfrm>
          <a:prstGeom prst="roundRect">
            <a:avLst/>
          </a:prstGeom>
          <a:solidFill>
            <a:srgbClr val="19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1737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Riesgos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199339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Priorizables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572768"/>
            <a:ext cx="25146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1572768"/>
            <a:ext cx="164592" cy="960120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7373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Indicadores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9339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Conversacionales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880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202B"/>
                </a:solidFill>
                <a:latin typeface="Aptos"/>
              </a:rPr>
              <a:t>• Finanzas puede leer consumos, variaciones y frentes de mayor impacto.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B202B"/>
                </a:solidFill>
                <a:latin typeface="Aptos"/>
              </a:rPr>
              <a:t>• Juridica puede apoyarse en trazabilidad, responsables, tiempos y evidencia operativa.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B202B"/>
                </a:solidFill>
                <a:latin typeface="Aptos"/>
              </a:rPr>
              <a:t>• Gerencia puede pedir KPI, desviaciones y causas probables sin esperar varios reportes separados.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61488"/>
            <a:ext cx="4892040" cy="251460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944368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13A"/>
                </a:solidFill>
                <a:latin typeface="Aptos"/>
              </a:rPr>
              <a:t>Cockpit ejecutivo esperado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337560"/>
            <a:ext cx="1417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3337560"/>
            <a:ext cx="164592" cy="749808"/>
          </a:xfrm>
          <a:prstGeom prst="roundRect">
            <a:avLst/>
          </a:prstGeom>
          <a:solidFill>
            <a:srgbClr val="E6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5021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Ausentismo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58184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Alerta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0688" y="3337560"/>
            <a:ext cx="14173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90688" y="3337560"/>
            <a:ext cx="164592" cy="749808"/>
          </a:xfrm>
          <a:prstGeom prst="roundRect">
            <a:avLst/>
          </a:prstGeom>
          <a:solidFill>
            <a:srgbClr val="E9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35021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Dotacion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758184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Pendiente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45168" y="3337560"/>
            <a:ext cx="13258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45168" y="3337560"/>
            <a:ext cx="164592" cy="749808"/>
          </a:xfrm>
          <a:prstGeom prst="roundRect">
            <a:avLst/>
          </a:prstGeom>
          <a:solidFill>
            <a:srgbClr val="44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7776" y="3502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778"/>
                </a:solidFill>
                <a:latin typeface="Aptos"/>
              </a:rPr>
              <a:t>Flota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3758184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13A"/>
                </a:solidFill>
                <a:latin typeface="Aptos"/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315968"/>
            <a:ext cx="4297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B202B"/>
                </a:solidFill>
                <a:latin typeface="Aptos"/>
              </a:rPr>
              <a:t>Ejemplos de preguntas ejecutivas:</a:t>
            </a:r>
            <a:br/>
            <a:r>
              <a:t>1. Que areas tienen mayor impacto operativo esta semana?</a:t>
            </a:r>
            <a:br/>
            <a:r>
              <a:t>2. Donde se concentra el costo o el riesgo?</a:t>
            </a:r>
            <a:br/>
            <a:r>
              <a:t>3. Que debe intervenir primero la gerencia?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Material ejecutivo de referencia. Graficos ilustrativos salvo donde se indique lo contrario.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7FA"/>
                </a:solidFill>
                <a:latin typeface="Aptos"/>
              </a:rPr>
              <a:t>De proyecto de IA a copiloto corporativo de empresa grande</a:t>
            </a:r>
          </a:p>
        </p:txBody>
      </p:sp>
      <p:pic>
        <p:nvPicPr>
          <p:cNvPr id="4" name="Picture 3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53312"/>
            <a:ext cx="6492240" cy="2813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2944" y="1645920"/>
            <a:ext cx="3794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4F7FA"/>
                </a:solidFill>
                <a:latin typeface="Aptos"/>
              </a:rPr>
              <a:t>• Fase 1: consolidar adopcion en empleados y ausentismo.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4F7FA"/>
                </a:solidFill>
                <a:latin typeface="Aptos"/>
              </a:rPr>
              <a:t>• Fase 2: abrir logistica de materiales y profundizar transporte.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4F7FA"/>
                </a:solidFill>
                <a:latin typeface="Aptos"/>
              </a:rPr>
              <a:t>• Fase 3: conectar operaciones, costos, indicadores y seguimiento directivo.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4F7FA"/>
                </a:solidFill>
                <a:latin typeface="Aptos"/>
              </a:rPr>
              <a:t>• Meta: que cada jefe de area tenga una capa inteligente de gestion sobre su proceso.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1231" y="5349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Mensaje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568756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Aptos"/>
              </a:rPr>
              <a:t>No se trata de tener otro chat, sino de darle a la empresa una nueva forma de leer, controlar y dirigir su operacion.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778"/>
                </a:solidFill>
                <a:latin typeface="Aptos"/>
              </a:rPr>
              <a:t>Presentacion generada a partir del contexto corporativo y de los dominios actualmente montados en 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