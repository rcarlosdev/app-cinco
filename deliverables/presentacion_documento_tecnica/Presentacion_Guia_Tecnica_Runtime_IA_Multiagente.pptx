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background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orp_isoti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92352" y="411480"/>
            <a:ext cx="103205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 err="1">
                <a:solidFill>
                  <a:srgbClr val="FFFFFF"/>
                </a:solidFill>
                <a:latin typeface="Aptos Display"/>
              </a:rPr>
              <a:t>Guia</a:t>
            </a:r>
            <a:r>
              <a:rPr sz="2400" b="1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ptos Display"/>
              </a:rPr>
              <a:t>Tecnica</a:t>
            </a:r>
            <a:r>
              <a:rPr sz="2400" b="1" dirty="0">
                <a:solidFill>
                  <a:srgbClr val="FFFFFF"/>
                </a:solidFill>
                <a:latin typeface="Aptos Display"/>
              </a:rPr>
              <a:t> De Onboarding Del Runtime IA </a:t>
            </a:r>
            <a:r>
              <a:rPr sz="2400" b="1" dirty="0" err="1">
                <a:solidFill>
                  <a:srgbClr val="FFFFFF"/>
                </a:solidFill>
                <a:latin typeface="Aptos Display"/>
              </a:rPr>
              <a:t>Multiagente</a:t>
            </a:r>
            <a:endParaRPr sz="24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5F7FB"/>
                </a:solidFill>
                <a:latin typeface="Aptos"/>
              </a:rPr>
              <a:t>Version para developers y Staff Engineer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5836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Menos heuristica manual.
Mas metadata correcta.
Un solo runtime con autoridad.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B"/>
                </a:solidFill>
                <a:latin typeface="Aptos"/>
              </a:rPr>
              <a:t>Runtime IA multiagente | Onboarding tecnico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1E38"/>
                </a:solidFill>
                <a:latin typeface="Aptos Display"/>
              </a:rPr>
              <a:t>Flujo Unico Vigente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6B7E"/>
                </a:solidFill>
                <a:latin typeface="Aptos"/>
              </a:rPr>
              <a:t>El camino que no debemos romper</a:t>
            </a:r>
          </a:p>
        </p:txBody>
      </p:sp>
      <p:pic>
        <p:nvPicPr>
          <p:cNvPr id="5" name="Picture 4" descr="runtim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10972800" cy="6172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81E38"/>
                </a:solidFill>
                <a:latin typeface="Consolas"/>
              </a:rPr>
              <a:t>HTTP/CLI -&gt; ChatApplicationService -&gt; IntentArbitrationService -&gt; SemanticBusinessResolver -&gt; QueryExecutionPlanner -&gt; sql_assisted | handler moderno | runtime_fallback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B7E"/>
                </a:solidFill>
                <a:latin typeface="Aptos"/>
              </a:rPr>
              <a:t>Toda extension nueva debe respetar esta ruta.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1E38"/>
                </a:solidFill>
                <a:latin typeface="Aptos Display"/>
              </a:rPr>
              <a:t>Que Hace Cada Componente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6B7E"/>
                </a:solidFill>
                <a:latin typeface="Aptos"/>
              </a:rPr>
              <a:t>Responsabilidades reales en produccion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6517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09728" cy="1965960"/>
          </a:xfrm>
          <a:prstGeom prst="rect">
            <a:avLst/>
          </a:prstGeom>
          <a:solidFill>
            <a:srgbClr val="724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1E38"/>
                </a:solidFill>
                <a:latin typeface="Aptos Display"/>
              </a:rPr>
              <a:t>ChatApplicationService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2240279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733"/>
                </a:solidFill>
                <a:latin typeface="Aptos"/>
              </a:rPr>
              <a:t>Entry point real. Coordina contexto, memoria, arbitraje, planner, respuesta y observabilidad.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325880"/>
            <a:ext cx="26517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20440" y="1325880"/>
            <a:ext cx="109728" cy="1965960"/>
          </a:xfrm>
          <a:prstGeom prst="rect">
            <a:avLst/>
          </a:prstGeom>
          <a:solidFill>
            <a:srgbClr val="1CA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39" y="15087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1E38"/>
                </a:solidFill>
                <a:latin typeface="Aptos Display"/>
              </a:rPr>
              <a:t>IntentArbitrationService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874519"/>
            <a:ext cx="2240279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733"/>
                </a:solidFill>
                <a:latin typeface="Aptos"/>
              </a:rPr>
              <a:t>GPT o fallback deterministico deciden la intencion y si aplica SQL, handler o fallback.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25880"/>
            <a:ext cx="26517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325880"/>
            <a:ext cx="109728" cy="1965960"/>
          </a:xfrm>
          <a:prstGeom prst="rect">
            <a:avLst/>
          </a:prstGeom>
          <a:solidFill>
            <a:srgbClr val="EAB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15087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1E38"/>
                </a:solidFill>
                <a:latin typeface="Aptos Display"/>
              </a:rPr>
              <a:t>SemanticBusinessResolver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874519"/>
            <a:ext cx="2240279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733"/>
                </a:solidFill>
                <a:latin typeface="Aptos"/>
              </a:rPr>
              <a:t>Convierte intencion en contexto operativo usando ai_dictionary como autoridad estructural.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32588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81160" y="1325880"/>
            <a:ext cx="109728" cy="1965960"/>
          </a:xfrm>
          <a:prstGeom prst="rect">
            <a:avLst/>
          </a:prstGeom>
          <a:solidFill>
            <a:srgbClr val="E96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0" y="1508760"/>
            <a:ext cx="1874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1E38"/>
                </a:solidFill>
                <a:latin typeface="Aptos Display"/>
              </a:rPr>
              <a:t>QueryExecutionPlanner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1874519"/>
            <a:ext cx="182880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733"/>
                </a:solidFill>
                <a:latin typeface="Aptos"/>
              </a:rPr>
              <a:t>Elige estrategia, valida SQL seguro y define la salida real.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3749039"/>
            <a:ext cx="3657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371600" y="3749039"/>
            <a:ext cx="109728" cy="1691640"/>
          </a:xfrm>
          <a:prstGeom prst="rect">
            <a:avLst/>
          </a:prstGeom>
          <a:solidFill>
            <a:srgbClr val="48B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00200" y="39319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1E38"/>
                </a:solidFill>
                <a:latin typeface="Aptos Display"/>
              </a:rPr>
              <a:t>sql_assisted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297679"/>
            <a:ext cx="32461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733"/>
                </a:solidFill>
                <a:latin typeface="Aptos"/>
              </a:rPr>
              <a:t>Ruta preferida para analytics agregable con tablas, columnas y joins declarados.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3749039"/>
            <a:ext cx="29260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303520" y="3749039"/>
            <a:ext cx="109728" cy="1691640"/>
          </a:xfrm>
          <a:prstGeom prst="rect">
            <a:avLst/>
          </a:prstGeom>
          <a:solidFill>
            <a:srgbClr val="3A7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32120" y="39319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1E38"/>
                </a:solidFill>
                <a:latin typeface="Aptos Display"/>
              </a:rPr>
              <a:t>handler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4297679"/>
            <a:ext cx="25146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733"/>
                </a:solidFill>
                <a:latin typeface="Aptos"/>
              </a:rPr>
              <a:t>Solo para casos no expresables de forma razonable como SQL assisted.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3749039"/>
            <a:ext cx="2560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503920" y="3749039"/>
            <a:ext cx="109728" cy="1691640"/>
          </a:xfrm>
          <a:prstGeom prst="rect">
            <a:avLst/>
          </a:prstGeom>
          <a:solidFill>
            <a:srgbClr val="D5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32520" y="39319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1E38"/>
                </a:solidFill>
                <a:latin typeface="Aptos Display"/>
              </a:rPr>
              <a:t>runtime_fallback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4297679"/>
            <a:ext cx="214883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733"/>
                </a:solidFill>
                <a:latin typeface="Aptos"/>
              </a:rPr>
              <a:t>Contingencia encapsulada. No es plataforma de desarrollo.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B7E"/>
                </a:solidFill>
                <a:latin typeface="Aptos"/>
              </a:rPr>
              <a:t>La autoridad moderna esta en application service + semantic resolver + planner.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1E38"/>
                </a:solidFill>
                <a:latin typeface="Aptos Display"/>
              </a:rPr>
              <a:t>Reglas De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6B7E"/>
                </a:solidFill>
                <a:latin typeface="Aptos"/>
              </a:rPr>
              <a:t>Lo que si y lo que 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9728" cy="4297680"/>
          </a:xfrm>
          <a:prstGeom prst="rect">
            <a:avLst/>
          </a:prstGeom>
          <a:solidFill>
            <a:srgbClr val="D5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1E38"/>
                </a:solidFill>
                <a:latin typeface="Aptos Display"/>
              </a:rPr>
              <a:t>No hacer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80060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733"/>
                </a:solidFill>
                <a:latin typeface="Aptos"/>
              </a:rPr>
              <a:t>- if palabra -&gt; accion
- logica estructural en YAML
- agentes por tabla
- SQL manual fuera del planner
- rutas paralelas o reintroducir legacy como autoridad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09728" cy="4297680"/>
          </a:xfrm>
          <a:prstGeom prst="rect">
            <a:avLst/>
          </a:prstGeom>
          <a:solidFill>
            <a:srgbClr val="48B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1E38"/>
                </a:solidFill>
                <a:latin typeface="Aptos Display"/>
              </a:rPr>
              <a:t>Si hacer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480060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733"/>
                </a:solidFill>
                <a:latin typeface="Aptos"/>
              </a:rPr>
              <a:t>- ai_dictionary como source of truth
- GPT arbitra la intencion
- planner decide ejecucion
- YAML solo narrativo
- joins y sinonimos declarados antes de tocar codigo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B7E"/>
                </a:solidFill>
                <a:latin typeface="Aptos"/>
              </a:rPr>
              <a:t>Si una solucion nueva necesita mas hardcode, probablemente va en contra de la arquitectura.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1E38"/>
                </a:solidFill>
                <a:latin typeface="Aptos Display"/>
              </a:rPr>
              <a:t>Fuente Estructural Correcta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6B7E"/>
                </a:solidFill>
                <a:latin typeface="Aptos"/>
              </a:rPr>
              <a:t>ai_dictionary manda; YAML acompana</a:t>
            </a:r>
          </a:p>
        </p:txBody>
      </p:sp>
      <p:pic>
        <p:nvPicPr>
          <p:cNvPr id="5" name="Picture 4" descr="source_of_tr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3392"/>
            <a:ext cx="5852158" cy="32918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645920"/>
            <a:ext cx="4297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33"/>
                </a:solidFill>
                <a:latin typeface="Aptos"/>
              </a:defRPr>
            </a:pPr>
            <a:r>
              <a:t>Todo lo que el runtime necesita para compilar SQL debe existir en ai_dictionary.</a:t>
            </a:r>
          </a:p>
          <a:p>
            <a:pPr>
              <a:spcAft>
                <a:spcPts val="800"/>
              </a:spcAft>
              <a:defRPr sz="1700">
                <a:solidFill>
                  <a:srgbClr val="232733"/>
                </a:solidFill>
                <a:latin typeface="Aptos"/>
              </a:defRPr>
            </a:pPr>
            <a:r>
              <a:t>YAML puede describir contexto, ejemplos y vocabulario, pero no debe actuar como catalogo productivo.</a:t>
            </a:r>
          </a:p>
          <a:p>
            <a:pPr>
              <a:spcAft>
                <a:spcPts val="800"/>
              </a:spcAft>
              <a:defRPr sz="1700">
                <a:solidFill>
                  <a:srgbClr val="232733"/>
                </a:solidFill>
                <a:latin typeface="Aptos"/>
              </a:defRPr>
            </a:pPr>
            <a:r>
              <a:t>Si falta una columna o un join en ai_dictionary, el fix es metadata; no otro if.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B7E"/>
                </a:solidFill>
                <a:latin typeface="Aptos"/>
              </a:rPr>
              <a:t>La causa mas comun de mala extension es intentar compensar metadata incompleta con codigo manual.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1E38"/>
                </a:solidFill>
                <a:latin typeface="Aptos Display"/>
              </a:rPr>
              <a:t>Como Onboardear Un Dominio O Tabla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6B7E"/>
                </a:solidFill>
                <a:latin typeface="Aptos"/>
              </a:rPr>
              <a:t>Secuencia recomendada</a:t>
            </a:r>
          </a:p>
        </p:txBody>
      </p:sp>
      <p:pic>
        <p:nvPicPr>
          <p:cNvPr id="5" name="Picture 4" descr="onboarding_step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5394960" cy="29103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16002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733"/>
                </a:solidFill>
                <a:latin typeface="Aptos"/>
              </a:defRPr>
            </a:pPr>
            <a:r>
              <a:t>1. Registrar dominio, tabla, columnas, relaciones y sinonimos en dd_*.</a:t>
            </a:r>
          </a:p>
          <a:p>
            <a:pPr>
              <a:spcAft>
                <a:spcPts val="800"/>
              </a:spcAft>
              <a:defRPr sz="1600">
                <a:solidFill>
                  <a:srgbClr val="232733"/>
                </a:solidFill>
                <a:latin typeface="Aptos"/>
              </a:defRPr>
            </a:pPr>
            <a:r>
              <a:t>2. Ejecutar ia_dictionary_audit y corregir missing_* o yaml_structural_leaks.</a:t>
            </a:r>
          </a:p>
          <a:p>
            <a:pPr>
              <a:spcAft>
                <a:spcPts val="800"/>
              </a:spcAft>
              <a:defRPr sz="1600">
                <a:solidFill>
                  <a:srgbClr val="232733"/>
                </a:solidFill>
                <a:latin typeface="Aptos"/>
              </a:defRPr>
            </a:pPr>
            <a:r>
              <a:t>3. Probar preguntas reales del negocio, no prompts tecnicos.</a:t>
            </a:r>
          </a:p>
          <a:p>
            <a:pPr>
              <a:spcAft>
                <a:spcPts val="800"/>
              </a:spcAft>
              <a:defRPr sz="1600">
                <a:solidFill>
                  <a:srgbClr val="232733"/>
                </a:solidFill>
                <a:latin typeface="Aptos"/>
              </a:defRPr>
            </a:pPr>
            <a:r>
              <a:t>4. Ejecutar ia_runtime_diagnose con real-data.</a:t>
            </a:r>
          </a:p>
          <a:p>
            <a:pPr>
              <a:spcAft>
                <a:spcPts val="800"/>
              </a:spcAft>
              <a:defRPr sz="1600">
                <a:solidFill>
                  <a:srgbClr val="232733"/>
                </a:solidFill>
                <a:latin typeface="Aptos"/>
              </a:defRPr>
            </a:pPr>
            <a:r>
              <a:t>5. Verificar runtime_flow=sql_assisted y fallback_reason vacio cuando aplica.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B7E"/>
                </a:solidFill>
                <a:latin typeface="Aptos"/>
              </a:rPr>
              <a:t>Primero metadata, despues runtime. Nunca al reves.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1E38"/>
                </a:solidFill>
                <a:latin typeface="Aptos Display"/>
              </a:rPr>
              <a:t>Cuando Crear Handler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6B7E"/>
                </a:solidFill>
                <a:latin typeface="Aptos"/>
              </a:rPr>
              <a:t>Usarlo bien evita deuda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3255981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75138" cy="1828800"/>
          </a:xfrm>
          <a:prstGeom prst="rect">
            <a:avLst/>
          </a:prstGeom>
          <a:solidFill>
            <a:srgbClr val="EAB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1E38"/>
                </a:solidFill>
                <a:latin typeface="Aptos Display"/>
              </a:rPr>
              <a:t>Crear handler solo 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4343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733"/>
                </a:solidFill>
                <a:latin typeface="Aptos"/>
              </a:rPr>
              <a:t>- no es realmente un query SQL
- requiere logica especifica
- necesita resolucion especial de entidad
- el calculo no es razonable como SQL assisted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600200"/>
            <a:ext cx="332859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06440" y="1600200"/>
            <a:ext cx="76814" cy="2011680"/>
          </a:xfrm>
          <a:prstGeom prst="rect">
            <a:avLst/>
          </a:prstGeom>
          <a:solidFill>
            <a:srgbClr val="724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0" y="17830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1E38"/>
                </a:solidFill>
                <a:latin typeface="Aptos Display"/>
              </a:rPr>
              <a:t>No crear handler 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148840"/>
            <a:ext cx="304054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232733"/>
                </a:solidFill>
                <a:latin typeface="Aptos"/>
              </a:rPr>
              <a:t>- es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conteo</a:t>
            </a:r>
            <a:r>
              <a:rPr sz="1100" dirty="0">
                <a:solidFill>
                  <a:srgbClr val="232733"/>
                </a:solidFill>
                <a:latin typeface="Aptos"/>
              </a:rPr>
              <a:t>, top,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agrupacion</a:t>
            </a:r>
            <a:r>
              <a:rPr sz="1100" dirty="0">
                <a:solidFill>
                  <a:srgbClr val="232733"/>
                </a:solidFill>
                <a:latin typeface="Aptos"/>
              </a:rPr>
              <a:t> o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distribucion</a:t>
            </a:r>
            <a:r>
              <a:rPr sz="1100" dirty="0">
                <a:solidFill>
                  <a:srgbClr val="232733"/>
                </a:solidFill>
                <a:latin typeface="Aptos"/>
              </a:rPr>
              <a:t>
- se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resuelve</a:t>
            </a:r>
            <a:r>
              <a:rPr sz="1100" dirty="0">
                <a:solidFill>
                  <a:srgbClr val="232733"/>
                </a:solidFill>
                <a:latin typeface="Aptos"/>
              </a:rPr>
              <a:t> con joins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declarados</a:t>
            </a:r>
            <a:r>
              <a:rPr sz="1100" dirty="0">
                <a:solidFill>
                  <a:srgbClr val="232733"/>
                </a:solidFill>
                <a:latin typeface="Aptos"/>
              </a:rPr>
              <a:t>
-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el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problema</a:t>
            </a:r>
            <a:r>
              <a:rPr sz="1100" dirty="0">
                <a:solidFill>
                  <a:srgbClr val="232733"/>
                </a:solidFill>
                <a:latin typeface="Aptos"/>
              </a:rPr>
              <a:t> real es metadata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faltante</a:t>
            </a:r>
            <a:endParaRPr sz="1100" dirty="0">
              <a:solidFill>
                <a:srgbClr val="232733"/>
              </a:solidFill>
              <a:latin typeface="Aptos"/>
            </a:endParaRPr>
          </a:p>
        </p:txBody>
      </p:sp>
      <p:pic>
        <p:nvPicPr>
          <p:cNvPr id="13" name="Picture 12" descr="pilot_runtime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804" y="3870695"/>
            <a:ext cx="4127238" cy="24084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B7E"/>
                </a:solidFill>
                <a:latin typeface="Aptos"/>
              </a:rPr>
              <a:t>Si se puede resolver con SQL seguro, no abras otra ruta de negocio.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1E38"/>
                </a:solidFill>
                <a:latin typeface="Aptos Display"/>
              </a:rPr>
              <a:t>Debugging Operativo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6B7E"/>
                </a:solidFill>
                <a:latin typeface="Aptos"/>
              </a:rPr>
              <a:t>Comandos y senales a revisar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33"/>
                </a:solidFill>
                <a:latin typeface="Aptos"/>
              </a:defRPr>
            </a:pPr>
            <a:r>
              <a:t>ia_runtime_diagnose: valida runtime_flow, compiler_used, fallback_reason, sql_assisted_count y legacy_count.</a:t>
            </a:r>
          </a:p>
          <a:p>
            <a:pPr>
              <a:spcAft>
                <a:spcPts val="800"/>
              </a:spcAft>
              <a:defRPr sz="1700">
                <a:solidFill>
                  <a:srgbClr val="232733"/>
                </a:solidFill>
                <a:latin typeface="Aptos"/>
              </a:defRPr>
            </a:pPr>
            <a:r>
              <a:t>ia_runtime_pilot_health: vigila status, legacy_count, runtime_only_fallback_count y errores_sql.</a:t>
            </a:r>
          </a:p>
          <a:p>
            <a:pPr>
              <a:spcAft>
                <a:spcPts val="800"/>
              </a:spcAft>
              <a:defRPr sz="1700">
                <a:solidFill>
                  <a:srgbClr val="232733"/>
                </a:solidFill>
                <a:latin typeface="Aptos"/>
              </a:defRPr>
            </a:pPr>
            <a:r>
              <a:t>ia_runtime_pilot_report: mira distribucion agregada de flow, fallback_reason y consultas problematicas.</a:t>
            </a:r>
          </a:p>
        </p:txBody>
      </p:sp>
      <p:pic>
        <p:nvPicPr>
          <p:cNvPr id="6" name="Picture 5" descr="debug_health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00200"/>
            <a:ext cx="4572000" cy="26679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4754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latin typeface="Aptos Display"/>
              </a:defRPr>
            </a:pPr>
            <a:r>
              <a:t>Mirar siempre:</a:t>
            </a:r>
          </a:p>
          <a:p>
            <a:pPr>
              <a:defRPr sz="1200">
                <a:solidFill>
                  <a:srgbClr val="181E38"/>
                </a:solidFill>
                <a:latin typeface="Consolas"/>
              </a:defRPr>
            </a:pPr>
            <a:r>
              <a:t>runtime_flow | compiler_used | fallback_reason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B7E"/>
                </a:solidFill>
                <a:latin typeface="Aptos"/>
              </a:rPr>
              <a:t>No tapes fallback_reason: es la pista de debugging mas valiosa.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1E38"/>
                </a:solidFill>
                <a:latin typeface="Aptos Display"/>
              </a:rPr>
              <a:t>Ejemplo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6B7E"/>
                </a:solidFill>
                <a:latin typeface="Aptos"/>
              </a:rPr>
              <a:t>Que areas tienen mas ausentismo?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560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" cy="3474720"/>
          </a:xfrm>
          <a:prstGeom prst="rect">
            <a:avLst/>
          </a:prstGeom>
          <a:solidFill>
            <a:srgbClr val="724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1E38"/>
                </a:solidFill>
                <a:latin typeface="Aptos Display"/>
              </a:rPr>
              <a:t>1. GPT arbitra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190195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 err="1">
                <a:solidFill>
                  <a:srgbClr val="232733"/>
                </a:solidFill>
                <a:latin typeface="Aptos"/>
              </a:rPr>
              <a:t>Detecta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analytics_query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sobre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ausentismo</a:t>
            </a:r>
            <a:r>
              <a:rPr sz="1100" dirty="0">
                <a:solidFill>
                  <a:srgbClr val="232733"/>
                </a:solidFill>
                <a:latin typeface="Aptos"/>
              </a:rPr>
              <a:t> y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marca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should_use_sql_assisted</a:t>
            </a:r>
            <a:r>
              <a:rPr sz="1100" dirty="0">
                <a:solidFill>
                  <a:srgbClr val="232733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417320"/>
            <a:ext cx="2560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11880" y="1417320"/>
            <a:ext cx="109728" cy="3474720"/>
          </a:xfrm>
          <a:prstGeom prst="rect">
            <a:avLst/>
          </a:prstGeom>
          <a:solidFill>
            <a:srgbClr val="1CA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0" y="16002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1E38"/>
                </a:solidFill>
                <a:latin typeface="Aptos Display"/>
              </a:rPr>
              <a:t>2. Resolver semantica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965960"/>
            <a:ext cx="207294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 err="1">
                <a:solidFill>
                  <a:srgbClr val="232733"/>
                </a:solidFill>
                <a:latin typeface="Aptos"/>
              </a:rPr>
              <a:t>SemanticBusinessResolver</a:t>
            </a:r>
            <a:r>
              <a:rPr sz="1100" dirty="0">
                <a:solidFill>
                  <a:srgbClr val="232733"/>
                </a:solidFill>
                <a:latin typeface="Aptos"/>
              </a:rPr>
              <a:t> carga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tabla</a:t>
            </a:r>
            <a:r>
              <a:rPr sz="1100" dirty="0">
                <a:solidFill>
                  <a:srgbClr val="232733"/>
                </a:solidFill>
                <a:latin typeface="Aptos"/>
              </a:rPr>
              <a:t> de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ausentismo</a:t>
            </a:r>
            <a:r>
              <a:rPr sz="1100" dirty="0">
                <a:solidFill>
                  <a:srgbClr val="232733"/>
                </a:solidFill>
                <a:latin typeface="Aptos"/>
              </a:rPr>
              <a:t>, join con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empleados</a:t>
            </a:r>
            <a:r>
              <a:rPr sz="1100" dirty="0">
                <a:solidFill>
                  <a:srgbClr val="232733"/>
                </a:solidFill>
                <a:latin typeface="Aptos"/>
              </a:rPr>
              <a:t> y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columna</a:t>
            </a:r>
            <a:r>
              <a:rPr sz="1100" dirty="0">
                <a:solidFill>
                  <a:srgbClr val="232733"/>
                </a:solidFill>
                <a:latin typeface="Aptos"/>
              </a:rPr>
              <a:t> area.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417320"/>
            <a:ext cx="2560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92240" y="1417320"/>
            <a:ext cx="109728" cy="3474720"/>
          </a:xfrm>
          <a:prstGeom prst="rect">
            <a:avLst/>
          </a:prstGeom>
          <a:solidFill>
            <a:srgbClr val="EAB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16002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1E38"/>
                </a:solidFill>
                <a:latin typeface="Aptos Display"/>
              </a:rPr>
              <a:t>3. Planner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965960"/>
            <a:ext cx="192938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232733"/>
                </a:solidFill>
                <a:latin typeface="Aptos"/>
              </a:rPr>
              <a:t>Genera SQL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seguro</a:t>
            </a:r>
            <a:r>
              <a:rPr sz="1100" dirty="0">
                <a:solidFill>
                  <a:srgbClr val="232733"/>
                </a:solidFill>
                <a:latin typeface="Aptos"/>
              </a:rPr>
              <a:t> con joins y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agrupacion</a:t>
            </a:r>
            <a:r>
              <a:rPr sz="1100" dirty="0">
                <a:solidFill>
                  <a:srgbClr val="232733"/>
                </a:solidFill>
                <a:latin typeface="Aptos"/>
              </a:rPr>
              <a:t> por area.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1417320"/>
            <a:ext cx="2011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72600" y="1417320"/>
            <a:ext cx="109728" cy="3474720"/>
          </a:xfrm>
          <a:prstGeom prst="rect">
            <a:avLst/>
          </a:prstGeom>
          <a:solidFill>
            <a:srgbClr val="E96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0" y="1600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1E38"/>
                </a:solidFill>
                <a:latin typeface="Aptos Display"/>
              </a:rPr>
              <a:t>4. Respuesta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1965960"/>
            <a:ext cx="149961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 err="1">
                <a:solidFill>
                  <a:srgbClr val="232733"/>
                </a:solidFill>
                <a:latin typeface="Aptos"/>
              </a:rPr>
              <a:t>runtime_flow</a:t>
            </a:r>
            <a:r>
              <a:rPr sz="1100" dirty="0">
                <a:solidFill>
                  <a:srgbClr val="232733"/>
                </a:solidFill>
                <a:latin typeface="Aptos"/>
              </a:rPr>
              <a:t>=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sql_assisted</a:t>
            </a:r>
            <a:r>
              <a:rPr sz="1100" dirty="0">
                <a:solidFill>
                  <a:srgbClr val="232733"/>
                </a:solidFill>
                <a:latin typeface="Aptos"/>
              </a:rPr>
              <a:t>,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datos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reales</a:t>
            </a:r>
            <a:r>
              <a:rPr sz="1100" dirty="0">
                <a:solidFill>
                  <a:srgbClr val="232733"/>
                </a:solidFill>
                <a:latin typeface="Aptos"/>
              </a:rPr>
              <a:t>,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resumen</a:t>
            </a:r>
            <a:r>
              <a:rPr sz="1100" dirty="0">
                <a:solidFill>
                  <a:srgbClr val="232733"/>
                </a:solidFill>
                <a:latin typeface="Aptos"/>
              </a:rPr>
              <a:t> y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tabla</a:t>
            </a:r>
            <a:r>
              <a:rPr sz="1100" dirty="0">
                <a:solidFill>
                  <a:srgbClr val="232733"/>
                </a:solidFill>
                <a:latin typeface="Aptos"/>
              </a:rPr>
              <a:t>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91840" y="3154680"/>
            <a:ext cx="320040" cy="0"/>
          </a:xfrm>
          <a:prstGeom prst="line">
            <a:avLst/>
          </a:prstGeom>
          <a:ln>
            <a:solidFill>
              <a:srgbClr val="62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72200" y="3154680"/>
            <a:ext cx="320040" cy="0"/>
          </a:xfrm>
          <a:prstGeom prst="line">
            <a:avLst/>
          </a:prstGeom>
          <a:ln>
            <a:solidFill>
              <a:srgbClr val="62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52560" y="3154680"/>
            <a:ext cx="320040" cy="0"/>
          </a:xfrm>
          <a:prstGeom prst="line">
            <a:avLst/>
          </a:prstGeom>
          <a:ln>
            <a:solidFill>
              <a:srgbClr val="62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B7E"/>
                </a:solidFill>
                <a:latin typeface="Aptos"/>
              </a:rPr>
              <a:t>La salida correcta es razonar con metadata, no fijar una query manual por caso.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Cierre Tecnico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5F7FB"/>
                </a:solidFill>
                <a:latin typeface="Aptos"/>
              </a:rPr>
              <a:t>La arquitectura ya sabe razonar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El developer no debe forzar la logica del negocio con mas heuristicas.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La extension correcta alimenta ai_dictionary, valida runtime y deja que el planner haga su trabajo.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Si una solucion nueva necesita fallback, YAML estructural o SQL manual, probablemente no esta alineada con la arquitectura actual.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6AD6BF"/>
                </a:solidFill>
                <a:latin typeface="Aptos Display"/>
              </a:rPr>
              <a:t>Metadata correcta primero. Runtime moderno despues. Hardcode nunca como estrategia.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B"/>
                </a:solidFill>
                <a:latin typeface="Aptos"/>
              </a:rPr>
              <a:t>Cierre tecnico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834</Words>
  <Application>Microsoft Office PowerPoint</Application>
  <PresentationFormat>Panorámica</PresentationFormat>
  <Paragraphs>79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ÁLVARO SÁNCHEZ PAREJA</cp:lastModifiedBy>
  <cp:revision>2</cp:revision>
  <dcterms:created xsi:type="dcterms:W3CDTF">2013-01-27T09:14:16Z</dcterms:created>
  <dcterms:modified xsi:type="dcterms:W3CDTF">2026-05-04T05:48:56Z</dcterms:modified>
  <cp:category/>
</cp:coreProperties>
</file>