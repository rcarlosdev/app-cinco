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ackgroun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rp_iso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048"/>
            <a:ext cx="566928" cy="566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" y="1133856"/>
            <a:ext cx="5074920" cy="4224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417320" cy="274320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1472184"/>
            <a:ext cx="1097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Deck ejecutivo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3891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D1226"/>
                </a:solidFill>
                <a:latin typeface="Aptos"/>
              </a:rPr>
              <a:t>IntegrAI Corporativo</a:t>
            </a:r>
            <a:br/>
            <a:r>
              <a:t>para procesos empresariales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51760"/>
            <a:ext cx="44348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26B7E"/>
                </a:solidFill>
                <a:latin typeface="Aptos"/>
              </a:rPr>
              <a:t>Vision ejecutiva para gestion humana, SST, logistica, transporte, tratamiento de informacion, compras, operaciones y control gerencial.</a:t>
            </a:r>
          </a:p>
        </p:txBody>
      </p:sp>
      <p:pic>
        <p:nvPicPr>
          <p:cNvPr id="9" name="Picture 8" descr="integr_ai_nam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75887"/>
            <a:ext cx="1307135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" y="4572000"/>
            <a:ext cx="4297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D1226"/>
                </a:solidFill>
                <a:latin typeface="Aptos"/>
              </a:rPr>
              <a:t>Con base actual ya montada en empleados y ausentismo, y una ruta clara de expansion por dominio.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1325880"/>
            <a:ext cx="3246120" cy="3246120"/>
          </a:xfrm>
          <a:prstGeom prst="ellipse">
            <a:avLst/>
          </a:prstGeom>
          <a:solidFill>
            <a:srgbClr val="D95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tegr_ai_icon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170432"/>
            <a:ext cx="3903816" cy="37490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90688" y="5413248"/>
            <a:ext cx="3429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7FB"/>
                </a:solidFill>
                <a:latin typeface="Aptos"/>
              </a:rPr>
              <a:t>Plataforma para leer, conectar y accionar la informacion de la empresa.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El reto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La informacion empresarial existe, pero muchas veces no esta lista para decidir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444752"/>
            <a:ext cx="2523744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" y="1609344"/>
            <a:ext cx="182880" cy="996695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5" y="1627632"/>
            <a:ext cx="195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Datos dispersos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1975104"/>
            <a:ext cx="19568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Tablas, archivos, soportes, correos y reportes viven separados por area o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444752"/>
            <a:ext cx="2523744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75887" y="1609344"/>
            <a:ext cx="182880" cy="996695"/>
          </a:xfrm>
          <a:prstGeom prst="round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1627632"/>
            <a:ext cx="195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Documentos sin lectura util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1975104"/>
            <a:ext cx="19568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La empresa guarda informacion, pero muchas veces no la convierte en hallazgos ni seguimiento.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44752"/>
            <a:ext cx="2523744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609344"/>
            <a:ext cx="182880" cy="996695"/>
          </a:xfrm>
          <a:prstGeom prst="round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27632"/>
            <a:ext cx="195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Reportes manuales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975104"/>
            <a:ext cx="19568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Consolidar novedades, soportes y resultados toma tiempo y depende de pocas personas.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444752"/>
            <a:ext cx="2432304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5712" y="1609344"/>
            <a:ext cx="182880" cy="996695"/>
          </a:xfrm>
          <a:prstGeom prst="round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1627632"/>
            <a:ext cx="1865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Baja trazabilidad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1975104"/>
            <a:ext cx="186537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Cuando aparece un atraso o sobrecosto, cuesta ver rapido la causa y el responsable.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18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D1226"/>
                </a:solidFill>
                <a:latin typeface="Aptos"/>
              </a:rPr>
              <a:t>Lo que esto genera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66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32733"/>
                </a:solidFill>
                <a:latin typeface="Aptos"/>
              </a:rPr>
              <a:t>- Mas tiempo buscando informacion y menos tiempo gestionando.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32733"/>
                </a:solidFill>
                <a:latin typeface="Aptos"/>
              </a:rPr>
              <a:t>- Reportes que llegan cuando la novedad ya impacto la operacion.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32733"/>
                </a:solidFill>
                <a:latin typeface="Aptos"/>
              </a:rPr>
              <a:t>- Dificultad para cruzar personas, recursos, soportes y procesos.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11880"/>
            <a:ext cx="960120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24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776472"/>
            <a:ext cx="7406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Dato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611880"/>
            <a:ext cx="960120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7" y="3776472"/>
            <a:ext cx="7406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Archivo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3611880"/>
            <a:ext cx="960120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B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96528" y="3776472"/>
            <a:ext cx="7406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Proceso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3611880"/>
            <a:ext cx="960120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A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9528" y="3776472"/>
            <a:ext cx="7406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Decision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60920" y="4087368"/>
            <a:ext cx="18288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03920" y="4087368"/>
            <a:ext cx="18288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46920" y="4087368"/>
            <a:ext cx="18288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2960" y="5522976"/>
            <a:ext cx="15087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5522976"/>
            <a:ext cx="146304" cy="841248"/>
          </a:xfrm>
          <a:prstGeom prst="roundRect">
            <a:avLst/>
          </a:prstGeom>
          <a:solidFill>
            <a:srgbClr val="D5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5650992"/>
            <a:ext cx="11887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Velocidad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5888736"/>
            <a:ext cx="11887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Lenta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87168" y="5522976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487168" y="5522976"/>
            <a:ext cx="146304" cy="841248"/>
          </a:xfrm>
          <a:prstGeom prst="round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24912" y="5650992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Visibilidad cruzada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4912" y="5888736"/>
            <a:ext cx="14173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Parcial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5522976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389120" y="5522976"/>
            <a:ext cx="146304" cy="841248"/>
          </a:xfrm>
          <a:prstGeom prst="round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6864" y="5650992"/>
            <a:ext cx="14173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Trazabilidad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5888736"/>
            <a:ext cx="14173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Variable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Lectura ejecutiva del problema: no basta con almacenar informacion; hay que volverla visible, accionable y trazable.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La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Un copiloto corporativo que entienda el lenguaje real del negocio</a:t>
            </a:r>
          </a:p>
        </p:txBody>
      </p:sp>
      <p:sp>
        <p:nvSpPr>
          <p:cNvPr id="6" name="Oval 5"/>
          <p:cNvSpPr/>
          <p:nvPr/>
        </p:nvSpPr>
        <p:spPr>
          <a:xfrm>
            <a:off x="4425696" y="1828800"/>
            <a:ext cx="3291840" cy="1920240"/>
          </a:xfrm>
          <a:prstGeom prst="ellipse">
            <a:avLst/>
          </a:prstGeom>
          <a:solidFill>
            <a:srgbClr val="0D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2331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IntegrAI</a:t>
            </a:r>
            <a:br/>
            <a:r>
              <a:t>Corporativo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417320"/>
            <a:ext cx="2057400" cy="786384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724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61848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Gestion Humana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075688" y="1810512"/>
            <a:ext cx="3986784" cy="950976"/>
          </a:xfrm>
          <a:prstGeom prst="line">
            <a:avLst/>
          </a:prstGeom>
          <a:ln w="33020">
            <a:solidFill>
              <a:srgbClr val="724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43000" y="4069080"/>
            <a:ext cx="2057400" cy="786384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1CA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27024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SST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67128" y="2761488"/>
            <a:ext cx="3895344" cy="1700784"/>
          </a:xfrm>
          <a:prstGeom prst="line">
            <a:avLst/>
          </a:prstGeom>
          <a:ln w="33020">
            <a:solidFill>
              <a:srgbClr val="1CA3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1417320"/>
            <a:ext cx="2057400" cy="786384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EAB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161848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Logistica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62472" y="1810512"/>
            <a:ext cx="3877056" cy="950976"/>
          </a:xfrm>
          <a:prstGeom prst="line">
            <a:avLst/>
          </a:prstGeom>
          <a:ln w="33020">
            <a:solidFill>
              <a:srgbClr val="EAB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87968" y="4069080"/>
            <a:ext cx="2057400" cy="786384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E9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427024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Transporte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2761488"/>
            <a:ext cx="3849624" cy="1700784"/>
          </a:xfrm>
          <a:prstGeom prst="line">
            <a:avLst/>
          </a:prstGeom>
          <a:ln w="33020">
            <a:solidFill>
              <a:srgbClr val="E96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26280" y="4892040"/>
            <a:ext cx="2057400" cy="786384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3A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5093207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Compras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550408" y="2761488"/>
            <a:ext cx="512064" cy="2523743"/>
          </a:xfrm>
          <a:prstGeom prst="line">
            <a:avLst/>
          </a:prstGeom>
          <a:ln w="33020">
            <a:solidFill>
              <a:srgbClr val="3A7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160520" y="868680"/>
            <a:ext cx="2057400" cy="786384"/>
          </a:xfrm>
          <a:prstGeom prst="roundRect">
            <a:avLst/>
          </a:prstGeom>
          <a:solidFill>
            <a:srgbClr val="F5F7FB"/>
          </a:solidFill>
          <a:ln w="25400">
            <a:solidFill>
              <a:srgbClr val="D95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106984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Documentos e imagenes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5184648" y="1261872"/>
            <a:ext cx="877824" cy="1499616"/>
          </a:xfrm>
          <a:prstGeom prst="line">
            <a:avLst/>
          </a:prstGeom>
          <a:ln w="33020">
            <a:solidFill>
              <a:srgbClr val="D95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562356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733"/>
                </a:solidFill>
                <a:latin typeface="Aptos"/>
              </a:rPr>
              <a:t>- Consulta datos, interpreta archivos y soportes, y convierte hallazgos en seguimiento, control y accion.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La oportunidad no es tener otro chat: es tener una capa inteligente sobre varios procesos empresariales.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Base actual ya construida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Hay una base real para escalar por dominios y no empezar de cero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426464"/>
            <a:ext cx="3547872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" y="1591056"/>
            <a:ext cx="182880" cy="1225295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5" y="1609344"/>
            <a:ext cx="29809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Empleados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1956816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Ya interpreta personal, colaboradores, cedula, supervisor, area, cargo, carpeta, movil y tipo de labor.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426464"/>
            <a:ext cx="3547872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591056"/>
            <a:ext cx="182880" cy="1225295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609344"/>
            <a:ext cx="29809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Ausentismo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56816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Ya entiende vacaciones, incapacidades, licencias, permisos, reincidencia y lectura por periodo o estructura.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426464"/>
            <a:ext cx="315468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75904" y="1591056"/>
            <a:ext cx="182880" cy="1225295"/>
          </a:xfrm>
          <a:prstGeom prst="round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0224" y="1609344"/>
            <a:ext cx="2587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Expansiones claras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1956816"/>
            <a:ext cx="2587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Transporte, compras, logistica de materiales, horas extra, viaticos, comisiones, facturacion.</a:t>
            </a:r>
          </a:p>
        </p:txBody>
      </p:sp>
      <p:pic>
        <p:nvPicPr>
          <p:cNvPr id="18" name="Picture 17" descr="domain_maturity_chart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246120"/>
            <a:ext cx="5623560" cy="29495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9400" y="3520440"/>
            <a:ext cx="4434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733"/>
                </a:solidFill>
                <a:latin typeface="Aptos"/>
              </a:rPr>
              <a:t>- Ya existe una logica de negocio que se puede replicar por area.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La empresa ya puede mostrar resultados reales en dos frentes de alto valor.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La expansion puede hacerse por etapas, segun impacto y prioridad.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La lectura de madurez se apoya en los dominios empresariales actualmente definidos en el proyecto.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Valor para Gestion Humana, RRHH y SST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De consultar datos a gestionar personas con evidencia</a:t>
            </a:r>
          </a:p>
        </p:txBody>
      </p:sp>
      <p:pic>
        <p:nvPicPr>
          <p:cNvPr id="6" name="Picture 5" descr="absence_area_chart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35024"/>
            <a:ext cx="4892040" cy="2701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481328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32733"/>
                </a:solidFill>
                <a:latin typeface="Aptos"/>
              </a:rPr>
              <a:t>- Consultar personal activo por area, cargo, supervisor, carpeta o frente operativo.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32733"/>
                </a:solidFill>
                <a:latin typeface="Aptos"/>
              </a:rPr>
              <a:t>- Detectar concentraciones de ausentismo y recurrencia antes de que afecten servicio y productividad.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32733"/>
                </a:solidFill>
                <a:latin typeface="Aptos"/>
              </a:rPr>
              <a:t>- Ver vacaciones, incapacidades, permisos y licencias por fecha, lider, area o equipo.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32733"/>
                </a:solidFill>
                <a:latin typeface="Aptos"/>
              </a:rPr>
              <a:t>- Dar a SST una base para priorizar focos de riesgo e intervenir con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48640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5486400"/>
            <a:ext cx="146304" cy="841248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61441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Visibilidad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8521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360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5486400"/>
            <a:ext cx="17556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95728" y="5486400"/>
            <a:ext cx="146304" cy="841248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5614416"/>
            <a:ext cx="14356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Respuesta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5852160"/>
            <a:ext cx="14356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Mas rapida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5486400"/>
            <a:ext cx="1828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5968" y="5486400"/>
            <a:ext cx="146304" cy="841248"/>
          </a:xfrm>
          <a:prstGeom prst="round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561441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Prevencion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58521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Mas temprana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Grafico referencial para ilustrar el tipo de lectura ejecutiva que puede tener un jefe de area.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Valor para Logistica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Materiales, herramientas, equipos y dotaciones bajo una sola lectura</a:t>
            </a:r>
          </a:p>
        </p:txBody>
      </p:sp>
      <p:pic>
        <p:nvPicPr>
          <p:cNvPr id="6" name="Picture 5" descr="inventory_chart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08760"/>
            <a:ext cx="4846320" cy="26759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" y="1591056"/>
            <a:ext cx="1225296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24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55648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Ingreso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48256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Recepcion y legalizacion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66544" y="2066543"/>
            <a:ext cx="164592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67712" y="1591056"/>
            <a:ext cx="1225296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755648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Inventario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48256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Existencia y ubicacion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93008" y="2066543"/>
            <a:ext cx="164592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94176" y="1591056"/>
            <a:ext cx="1225296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B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55648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Entrega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048256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Responsable y destino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9472" y="2066543"/>
            <a:ext cx="164592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0640" y="1591056"/>
            <a:ext cx="1225296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755648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Consumo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048256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Uso y reposicion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45936" y="2066543"/>
            <a:ext cx="164591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47104" y="1591056"/>
            <a:ext cx="1225296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A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755648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Saldo /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2048256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Trazabilidad y diferencia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54680"/>
            <a:ext cx="5440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733"/>
                </a:solidFill>
                <a:latin typeface="Aptos"/>
              </a:rPr>
              <a:t>- Controla entrega, consumo, devoluciones, saldo, responsable, bodega, cuadrilla y proyecto.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Ayuda a detectar faltantes, sobreconsumos, activos no retornados e inconsistencias entre soporte y realidad operativa.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Impacta costo, disponibilidad, control interno y continuidad del frente de trabajo.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Aqui logistica se entiende como manejo de materiales, herramientas, equipos y dotaciones. Transporte se trata como dominio aparte.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Valor para Transporte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Control de vehiculos, asignaciones, salidas, rutas y consumo</a:t>
            </a:r>
          </a:p>
        </p:txBody>
      </p:sp>
      <p:pic>
        <p:nvPicPr>
          <p:cNvPr id="6" name="Picture 5" descr="transport_chart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54480"/>
            <a:ext cx="4846320" cy="26759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1609344"/>
            <a:ext cx="1152144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24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773936"/>
            <a:ext cx="9326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Vehiculo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609344"/>
            <a:ext cx="1152144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773936"/>
            <a:ext cx="9326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Asignacion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609344"/>
            <a:ext cx="1152144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B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773936"/>
            <a:ext cx="9326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Ruta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609344"/>
            <a:ext cx="1152144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1773936"/>
            <a:ext cx="9326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Consumo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2761488"/>
            <a:ext cx="1152144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A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9928" y="2926080"/>
            <a:ext cx="9326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Personal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761488"/>
            <a:ext cx="1152144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5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926080"/>
            <a:ext cx="9326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Salida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761488"/>
            <a:ext cx="1152144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2926080"/>
            <a:ext cx="93268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Control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20824" y="2084831"/>
            <a:ext cx="310896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83864" y="2084831"/>
            <a:ext cx="310896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46904" y="2084831"/>
            <a:ext cx="310896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176272" y="2560320"/>
            <a:ext cx="731520" cy="201168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822191" y="2560320"/>
            <a:ext cx="548641" cy="201168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468112" y="2560320"/>
            <a:ext cx="365760" cy="201168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4041648"/>
            <a:ext cx="5440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733"/>
                </a:solidFill>
                <a:latin typeface="Aptos"/>
              </a:rPr>
              <a:t>- Permite ver que vehiculo salio, con que personal, para que ruta, con que horario y con que consumo.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Ayuda a medir uso de flota, tiempos muertos, desvio operativo y costo por ruta o asignacion.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Transporte se presenta como frente independiente de control operativo de flota y asignaciones.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Tratamiento de informacion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Lectura de archivos, documentos e imagenes para volverlos accion empresarial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1572768"/>
            <a:ext cx="1078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7" y="1719072"/>
            <a:ext cx="749808" cy="310896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773936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03120"/>
            <a:ext cx="8778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Contratos / actas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572768"/>
            <a:ext cx="1078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21992" y="1719072"/>
            <a:ext cx="749808" cy="310896"/>
          </a:xfrm>
          <a:prstGeom prst="round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4288" y="1773936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XLS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03120"/>
            <a:ext cx="8778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Bases / reportes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4" y="1572768"/>
            <a:ext cx="1078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19856" y="1719072"/>
            <a:ext cx="749808" cy="310896"/>
          </a:xfrm>
          <a:prstGeom prst="round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773936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IMG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2103120"/>
            <a:ext cx="8778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Fotos / soportes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1572768"/>
            <a:ext cx="1078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1719072"/>
            <a:ext cx="749808" cy="310896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773936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103120"/>
            <a:ext cx="8778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Formatos / cartas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0992" y="1572768"/>
            <a:ext cx="1078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15583" y="1719072"/>
            <a:ext cx="749808" cy="310896"/>
          </a:xfrm>
          <a:prstGeom prst="roundRect">
            <a:avLst/>
          </a:prstGeom>
          <a:solidFill>
            <a:srgbClr val="D95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79" y="1773936"/>
            <a:ext cx="5943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1" y="2103120"/>
            <a:ext cx="8778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Correos / solicitudes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37960" y="1993392"/>
            <a:ext cx="36576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31152" y="1481328"/>
            <a:ext cx="1371600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24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1645920"/>
            <a:ext cx="11521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Extraccion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938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Fechas, valores, nombres, estados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02752" y="1993392"/>
            <a:ext cx="36576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05088" y="1481328"/>
            <a:ext cx="1371600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14815" y="1645920"/>
            <a:ext cx="11521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Clasificacion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4815" y="1938528"/>
            <a:ext cx="11521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Tipo, area, prioridad, responsable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76688" y="1993392"/>
            <a:ext cx="329184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442448" y="1481328"/>
            <a:ext cx="1325880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A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52176" y="1645920"/>
            <a:ext cx="11064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Reporte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1938528"/>
            <a:ext cx="11064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Informe, alerta o seguimiento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3090672"/>
            <a:ext cx="10058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733"/>
                </a:solidFill>
                <a:latin typeface="Aptos"/>
              </a:rPr>
              <a:t>- Puede leer soportes documentales y convertirlos en datos usables para control y gestion.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Puede resumir documentos extensos, consolidar multiples archivos y detectar faltantes o inconsistencias.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Permite que el conocimiento ya no se quede atrapado en carpetas, correos o imagenes sueltas.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Esta expansion complementa la base analitica actual y abre la puerta a una capa documental y multimodal.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De soportes a informes y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La lectura de documentos puede convertirse en seguimiento, control y reporteria ejecutiva</a:t>
            </a:r>
          </a:p>
        </p:txBody>
      </p:sp>
      <p:pic>
        <p:nvPicPr>
          <p:cNvPr id="6" name="Picture 5" descr="document_automati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074920" cy="27377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508760"/>
            <a:ext cx="2450592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1673351"/>
            <a:ext cx="182880" cy="841248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1691639"/>
            <a:ext cx="1883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RRHH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039112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Incapacidades, permisos, hojas de vida, certificados, novedades y vencimientos.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88920"/>
            <a:ext cx="2450592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2953512"/>
            <a:ext cx="182880" cy="841248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971800"/>
            <a:ext cx="1883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SST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319272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Actas, investigaciones, inspecciones, hallazgos, responsables y fechas compromiso.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69080"/>
            <a:ext cx="2450592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4233672"/>
            <a:ext cx="182880" cy="841248"/>
          </a:xfrm>
          <a:prstGeom prst="round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4251960"/>
            <a:ext cx="1883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Logistica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599432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Remisiones, entregas, devoluciones, soportes de consumo y diferencias de inventario.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1508760"/>
            <a:ext cx="2450592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39312" y="1673351"/>
            <a:ext cx="182880" cy="841248"/>
          </a:xfrm>
          <a:prstGeom prst="round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1" y="1691639"/>
            <a:ext cx="1883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Finanzas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2039112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Facturas, legalizaciones, viaticos, soportes de gasto y centro de costo.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2788920"/>
            <a:ext cx="2450592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39312" y="2953512"/>
            <a:ext cx="182880" cy="841248"/>
          </a:xfrm>
          <a:prstGeom prst="round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1" y="2971800"/>
            <a:ext cx="1883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Juridica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1" y="3319272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Contratos, otrosi, oficios, requerimientos, fechas y obligaciones.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069080"/>
            <a:ext cx="2450592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39312" y="4233672"/>
            <a:ext cx="182880" cy="841248"/>
          </a:xfrm>
          <a:prstGeom prst="roundRect">
            <a:avLst/>
          </a:prstGeom>
          <a:solidFill>
            <a:srgbClr val="D95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1" y="4251960"/>
            <a:ext cx="1883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Gerencia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1" y="4599432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Consolidado de hallazgos, pendientes, alertas y resumen ejecutivo.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Grafico referencial: ilustra la reduccion de esfuerzo para pasar de archivo disperso a reporte util.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Proceso de compras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Ciclo actual que puede volverse totalmente visible y trazable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444752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24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39112"/>
            <a:ext cx="1225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Solicitud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331720"/>
            <a:ext cx="1225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Necesidad y requerimiento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350008"/>
            <a:ext cx="22860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33472" y="1874519"/>
            <a:ext cx="1444752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039112"/>
            <a:ext cx="1225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Aprobacion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31720"/>
            <a:ext cx="1225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Decision y visto bueno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78224" y="2350008"/>
            <a:ext cx="22860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25696" y="1874519"/>
            <a:ext cx="1444752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B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039112"/>
            <a:ext cx="1225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Cotizacion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331720"/>
            <a:ext cx="1225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Comparativo y proveedor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0448" y="2350008"/>
            <a:ext cx="22860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1874519"/>
            <a:ext cx="1444752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039112"/>
            <a:ext cx="1225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Compra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31720"/>
            <a:ext cx="1225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Orden y ejecucion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62671" y="2350008"/>
            <a:ext cx="22860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10144" y="1874519"/>
            <a:ext cx="1444752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A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2039112"/>
            <a:ext cx="1225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Estado de 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2331720"/>
            <a:ext cx="1225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Seguimiento y recepcion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54896" y="2350008"/>
            <a:ext cx="228600" cy="0"/>
          </a:xfrm>
          <a:prstGeom prst="line">
            <a:avLst/>
          </a:prstGeom>
          <a:ln w="33020">
            <a:solidFill>
              <a:srgbClr val="62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02368" y="1874519"/>
            <a:ext cx="1444752" cy="95097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5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2096" y="2039112"/>
            <a:ext cx="1225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1226"/>
                </a:solidFill>
                <a:latin typeface="Aptos"/>
              </a:rPr>
              <a:t>Uso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2331720"/>
            <a:ext cx="1225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6B7E"/>
                </a:solidFill>
                <a:latin typeface="Aptos"/>
              </a:rPr>
              <a:t>Destino, consumo y cierre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3749039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1226"/>
                </a:solidFill>
                <a:latin typeface="Aptos"/>
              </a:rPr>
              <a:t>Aportes esperados en cada etapa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069080"/>
            <a:ext cx="169164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3271" y="4233672"/>
            <a:ext cx="182880" cy="969264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07592" y="4251960"/>
            <a:ext cx="1124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Solicitud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7592" y="4599432"/>
            <a:ext cx="11247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Lectura de formatos, correo o requerimiento y estructuracion automatica.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61488" y="4069080"/>
            <a:ext cx="169164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926080" y="4233672"/>
            <a:ext cx="182880" cy="969264"/>
          </a:xfrm>
          <a:prstGeom prst="round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4251960"/>
            <a:ext cx="1124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Aprobacion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599432"/>
            <a:ext cx="11247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Estado, responsable, fechas y alertas de estancamiento.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54296" y="4069080"/>
            <a:ext cx="169164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18888" y="4233672"/>
            <a:ext cx="182880" cy="969264"/>
          </a:xfrm>
          <a:prstGeom prst="roundRect">
            <a:avLst/>
          </a:prstGeom>
          <a:solidFill>
            <a:srgbClr val="EA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93208" y="4251960"/>
            <a:ext cx="1124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Cotizacion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3208" y="4599432"/>
            <a:ext cx="11247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Consolidado de opciones, valores y comparativos.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47104" y="4069080"/>
            <a:ext cx="169164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711696" y="4233672"/>
            <a:ext cx="182880" cy="969264"/>
          </a:xfrm>
          <a:prstGeom prst="round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86016" y="4251960"/>
            <a:ext cx="1124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Compra / entrega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86016" y="4599432"/>
            <a:ext cx="11247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Seguimiento de orden, recepcion y cumplimiento del proveedor.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39912" y="4069080"/>
            <a:ext cx="2057400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604504" y="4233672"/>
            <a:ext cx="182880" cy="969264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78824" y="4251960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226"/>
                </a:solidFill>
                <a:latin typeface="Aptos"/>
              </a:rPr>
              <a:t>Uso final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78824" y="4599432"/>
            <a:ext cx="14904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Cierre con evidencia de destino, uso real y trazabilidad del recurso.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Compras se presenta aqui como un proceso corporativo completo: solicitud, aprobacion, cotizacion, compra, entrega y uso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Aportes y mejoras en compras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Mas control, menos tiempos muertos y mejor lectura del estado real del proceso</a:t>
            </a:r>
          </a:p>
        </p:txBody>
      </p:sp>
      <p:pic>
        <p:nvPicPr>
          <p:cNvPr id="6" name="Picture 5" descr="purchase_impact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444752"/>
            <a:ext cx="4983480" cy="26884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572768"/>
            <a:ext cx="51663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733"/>
                </a:solidFill>
                <a:latin typeface="Aptos"/>
              </a:rPr>
              <a:t>- Trazabilidad completa desde que nace la solicitud hasta que el recurso llega y se usa.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Alertas cuando una aprobacion se estanca, una cotizacion no llega o una entrega se retrasa.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Comparacion mas rapida de proveedores, valores, tiempos y condiciones.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Seguimiento de compra contra recepcion y uso final, no solo hasta la orden.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Mejor control para auditoria, presupuesto, cumplimiento y servicio al area solicitante.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3212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5532120"/>
            <a:ext cx="146304" cy="841248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5660136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58978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End to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553212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5532120"/>
            <a:ext cx="146304" cy="841248"/>
          </a:xfrm>
          <a:prstGeom prst="round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5660136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Alertas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58978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Tempranas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5532120"/>
            <a:ext cx="1600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5532120"/>
            <a:ext cx="146304" cy="841248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3" y="5660136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Cierre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3" y="58978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Con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Grafico referencial: muestra como una gestion mas inteligente puede elevar la visibilidad y el control del proceso de compras.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Valor para Operaciones y Productividad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La mayor ganancia aparece cuando las areas se leen juntas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983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32733"/>
                </a:solidFill>
                <a:latin typeface="Aptos"/>
              </a:rPr>
              <a:t>- Una cuadrilla puede verse afectada por ausentismo, falta de material, demoras de compra o indisponibilidad de vehiculo.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32733"/>
                </a:solidFill>
                <a:latin typeface="Aptos"/>
              </a:rPr>
              <a:t>- El jefe de operaciones necesita entender esas causas juntas y no en reportes separados.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32733"/>
                </a:solidFill>
                <a:latin typeface="Aptos"/>
              </a:rPr>
              <a:t>- El sistema puede priorizar frentes en riesgo, cuellos de botella y acciones correctivas con mas rapidez.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2523744"/>
            <a:ext cx="1645920" cy="1097280"/>
          </a:xfrm>
          <a:prstGeom prst="ellipse">
            <a:avLst/>
          </a:prstGeom>
          <a:solidFill>
            <a:srgbClr val="0D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816352"/>
            <a:ext cx="10789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141732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24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993392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Personal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14032" y="2148840"/>
            <a:ext cx="1527048" cy="914400"/>
          </a:xfrm>
          <a:prstGeom prst="line">
            <a:avLst/>
          </a:prstGeom>
          <a:ln w="33020">
            <a:solidFill>
              <a:srgbClr val="724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783080"/>
            <a:ext cx="141732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B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1993392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Materiales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641080" y="2148840"/>
            <a:ext cx="484631" cy="914400"/>
          </a:xfrm>
          <a:prstGeom prst="line">
            <a:avLst/>
          </a:prstGeom>
          <a:ln w="33020">
            <a:solidFill>
              <a:srgbClr val="EAB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58400" y="2834640"/>
            <a:ext cx="141732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86416" y="3044952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Compras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8641080" y="3063240"/>
            <a:ext cx="2130552" cy="137160"/>
          </a:xfrm>
          <a:prstGeom prst="line">
            <a:avLst/>
          </a:prstGeom>
          <a:ln w="33020">
            <a:solidFill>
              <a:srgbClr val="3A7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412480" y="3840480"/>
            <a:ext cx="141732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4050792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Transporte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8641080" y="3063240"/>
            <a:ext cx="484631" cy="1143000"/>
          </a:xfrm>
          <a:prstGeom prst="line">
            <a:avLst/>
          </a:prstGeom>
          <a:ln w="33020">
            <a:solidFill>
              <a:srgbClr val="E96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3840480"/>
            <a:ext cx="141732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A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4050792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1226"/>
                </a:solidFill>
                <a:latin typeface="Aptos"/>
              </a:rPr>
              <a:t>Operacion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114032" y="3063240"/>
            <a:ext cx="1527048" cy="1143000"/>
          </a:xfrm>
          <a:prstGeom prst="line">
            <a:avLst/>
          </a:prstGeom>
          <a:ln w="33020">
            <a:solidFill>
              <a:srgbClr val="1CA3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5074920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D1226"/>
                </a:solidFill>
                <a:latin typeface="Aptos"/>
              </a:rPr>
              <a:t>Cuando la empresa conecta personas, soportes, materiales, compras y transporte, la productividad deja de verse por intuicion y empieza a verse con datos.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El valor corporativo mas alto aparece en los cruces entre procesos, no solo dentro de cada area aislada.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pic>
        <p:nvPicPr>
          <p:cNvPr id="3" name="Picture 2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9456"/>
            <a:ext cx="81695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226"/>
                </a:solidFill>
                <a:latin typeface="Aptos"/>
              </a:rPr>
              <a:t>Valor para Gerencia, Finanzas, Juridica e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26B7E"/>
                </a:solidFill>
                <a:latin typeface="Aptos"/>
              </a:rPr>
              <a:t>Una sola capa de lectura ejecutiva sobre multiples procesos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1481328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481328"/>
            <a:ext cx="146304" cy="841248"/>
          </a:xfrm>
          <a:prstGeom prst="roundRect">
            <a:avLst/>
          </a:prstGeom>
          <a:solidFill>
            <a:srgbClr val="E9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9344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Costos y desvio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4708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Visibles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481328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63240" y="1481328"/>
            <a:ext cx="146304" cy="841248"/>
          </a:xfrm>
          <a:prstGeom prst="round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1609344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Cumplimiento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184708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Trazable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66944" y="1481328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66944" y="1481328"/>
            <a:ext cx="146304" cy="841248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1609344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Riesgos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184708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Priorizables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8" y="1481328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0648" y="1481328"/>
            <a:ext cx="146304" cy="841248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1609344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Indicadores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184708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Conversacionales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74352" y="1481328"/>
            <a:ext cx="1682496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1481328"/>
            <a:ext cx="146304" cy="841248"/>
          </a:xfrm>
          <a:prstGeom prst="roundRect">
            <a:avLst/>
          </a:prstGeom>
          <a:solidFill>
            <a:srgbClr val="D95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1609344"/>
            <a:ext cx="13624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B7E"/>
                </a:solidFill>
                <a:latin typeface="Aptos"/>
              </a:rPr>
              <a:t>Soportes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184708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D1226"/>
                </a:solidFill>
                <a:latin typeface="Aptos"/>
              </a:rPr>
              <a:t>Leibles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733"/>
                </a:solidFill>
                <a:latin typeface="Aptos"/>
              </a:rPr>
              <a:t>- Finanzas puede leer gastos, compras, consumos y desviaciones con mayor contexto operativo.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Juridica puede resumir documentos, fechas, obligaciones y trazabilidad de casos o compromisos.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32733"/>
                </a:solidFill>
                <a:latin typeface="Aptos"/>
              </a:rPr>
              <a:t>- Gerencia puede pedir KPI, alertas, causas probables y priorizacion sin esperar consolidaciones manuales.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743200"/>
            <a:ext cx="4572000" cy="21488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90779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1226"/>
                </a:solidFill>
                <a:latin typeface="Aptos"/>
              </a:rPr>
              <a:t>Preguntas ejecutivas que habilita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273552"/>
            <a:ext cx="4023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733"/>
                </a:solidFill>
                <a:latin typeface="Aptos"/>
              </a:rPr>
              <a:t>- Que frentes tienen mayor riesgo esta semana?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32733"/>
                </a:solidFill>
                <a:latin typeface="Aptos"/>
              </a:rPr>
              <a:t>- Donde se concentra el costo o el atraso?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32733"/>
                </a:solidFill>
                <a:latin typeface="Aptos"/>
              </a:rPr>
              <a:t>- Que pendientes deben intervenir primero los jefes?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La vision de largo plazo es una empresa que no solo guarda datos, sino que los entiende y los usa para decidir.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p_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1168"/>
            <a:ext cx="384048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55480" y="164592"/>
            <a:ext cx="22402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tegr_ai_name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237744"/>
            <a:ext cx="762495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420624"/>
            <a:ext cx="8503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Ruta de crecimiento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1440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De base analitica actual a copiloto corporativo para empresa grande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920240"/>
            <a:ext cx="32461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084831"/>
            <a:ext cx="914400" cy="256032"/>
          </a:xfrm>
          <a:prstGeom prst="roundRect">
            <a:avLst/>
          </a:prstGeom>
          <a:solidFill>
            <a:srgbClr val="724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139696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D1226"/>
                </a:solidFill>
                <a:latin typeface="Aptos"/>
              </a:rPr>
              <a:t>Consolidar lo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62656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6B7E"/>
                </a:solidFill>
                <a:latin typeface="Aptos"/>
              </a:rPr>
              <a:t>Empleados y ausentismo con uso gerencial y visibilidad real.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3026664"/>
            <a:ext cx="365760" cy="0"/>
          </a:xfrm>
          <a:prstGeom prst="line">
            <a:avLst/>
          </a:prstGeom>
          <a:ln w="3302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90288" y="1920240"/>
            <a:ext cx="32461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2084831"/>
            <a:ext cx="914400" cy="256032"/>
          </a:xfrm>
          <a:prstGeom prst="roundRect">
            <a:avLst/>
          </a:prstGeom>
          <a:solidFill>
            <a:srgbClr val="3A7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3" y="2139696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5603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D1226"/>
                </a:solidFill>
                <a:latin typeface="Aptos"/>
              </a:rPr>
              <a:t>Expandir procesos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962656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6B7E"/>
                </a:solidFill>
                <a:latin typeface="Aptos"/>
              </a:rPr>
              <a:t>Logistica, transporte, compras y tratamiento documental.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36408" y="3026664"/>
            <a:ext cx="365759" cy="0"/>
          </a:xfrm>
          <a:prstGeom prst="line">
            <a:avLst/>
          </a:prstGeom>
          <a:ln w="3302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39327" y="1920240"/>
            <a:ext cx="32461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19" y="2084831"/>
            <a:ext cx="914400" cy="256032"/>
          </a:xfrm>
          <a:prstGeom prst="roundRect">
            <a:avLst/>
          </a:prstGeom>
          <a:solidFill>
            <a:srgbClr val="1CA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139696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5603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D1226"/>
                </a:solidFill>
                <a:latin typeface="Aptos"/>
              </a:rPr>
              <a:t>Empresa conectada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962656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6B7E"/>
                </a:solidFill>
                <a:latin typeface="Aptos"/>
              </a:rPr>
              <a:t>Cruces operativos, alertas, seguimiento y lectura ejecutiva integral.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Mensaje final: no se trata de tener otro chat, sino de darle a la empresa una nueva forma de leer, controlar y dirigir su operacion.</a:t>
            </a:r>
          </a:p>
        </p:txBody>
      </p:sp>
      <p:pic>
        <p:nvPicPr>
          <p:cNvPr id="25" name="Picture 24" descr="integr_ai_icon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5413248"/>
            <a:ext cx="856935" cy="822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8096" y="6400800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26B7E"/>
                </a:solidFill>
                <a:latin typeface="Aptos"/>
              </a:rPr>
              <a:t>Presentacion v2 generada con branding y graficos referenciales para conversacion directiva.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